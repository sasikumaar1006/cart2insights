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6B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66724"/>
            <a:ext cx="100584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rPr lang="en-US" sz="4800" dirty="0"/>
              <a:t>Project : Cart2Insights</a:t>
            </a:r>
          </a:p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endParaRPr lang="en-US" sz="1600" dirty="0"/>
          </a:p>
          <a:p>
            <a:pPr>
              <a:spcBef>
                <a:spcPts val="1200"/>
              </a:spcBef>
              <a:defRPr sz="2000">
                <a:solidFill>
                  <a:srgbClr val="6B1724"/>
                </a:solidFill>
                <a:latin typeface="Arial"/>
              </a:defRPr>
            </a:pPr>
            <a:r>
              <a:rPr lang="en-US" sz="3200" dirty="0" err="1"/>
              <a:t>Olist</a:t>
            </a:r>
            <a:r>
              <a:rPr lang="en-US" sz="3200" dirty="0"/>
              <a:t> E-Commerce Analysis &amp; Business Insights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Executive Summary: The Growth vs. Retention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6B1724"/>
                </a:solidFill>
              </a:defRPr>
            </a:pPr>
            <a:r>
              <a:rPr sz="2000" dirty="0"/>
              <a:t>CORE DIAGNOSIS</a:t>
            </a:r>
          </a:p>
          <a:p>
            <a:pPr>
              <a:spcBef>
                <a:spcPts val="1400"/>
              </a:spcBef>
            </a:pPr>
            <a:r>
              <a:rPr sz="1400" b="1" dirty="0">
                <a:solidFill>
                  <a:srgbClr val="1E293B"/>
                </a:solidFill>
              </a:rPr>
              <a:t>High Revenue, Low Retention:</a:t>
            </a:r>
            <a:r>
              <a:rPr sz="1400" dirty="0">
                <a:solidFill>
                  <a:srgbClr val="64748B"/>
                </a:solidFill>
              </a:rPr>
              <a:t> </a:t>
            </a:r>
            <a:r>
              <a:rPr sz="1400" dirty="0" err="1">
                <a:solidFill>
                  <a:srgbClr val="64748B"/>
                </a:solidFill>
              </a:rPr>
              <a:t>Olist</a:t>
            </a:r>
            <a:r>
              <a:rPr sz="1400" dirty="0">
                <a:solidFill>
                  <a:srgbClr val="64748B"/>
                </a:solidFill>
              </a:rPr>
              <a:t> generates $16M+ GMV across 99k+ orders, but functions as a single-transaction marketplace.</a:t>
            </a:r>
          </a:p>
          <a:p>
            <a:pPr>
              <a:spcBef>
                <a:spcPts val="1400"/>
              </a:spcBef>
            </a:pPr>
            <a:r>
              <a:rPr sz="1400" b="1" dirty="0">
                <a:solidFill>
                  <a:srgbClr val="1E293B"/>
                </a:solidFill>
              </a:rPr>
              <a:t>Acquisition Leaky Bucket:</a:t>
            </a:r>
            <a:r>
              <a:rPr sz="1400" dirty="0">
                <a:solidFill>
                  <a:srgbClr val="64748B"/>
                </a:solidFill>
              </a:rPr>
              <a:t> Over 90% of buyers purchase once and never return, driving up customer acquisition costs (CAC).</a:t>
            </a:r>
          </a:p>
          <a:p>
            <a:pPr>
              <a:spcBef>
                <a:spcPts val="1400"/>
              </a:spcBef>
            </a:pPr>
            <a:r>
              <a:rPr sz="1400" b="1" dirty="0">
                <a:solidFill>
                  <a:srgbClr val="1E293B"/>
                </a:solidFill>
              </a:rPr>
              <a:t>Regional Logistics Bottlenecks:</a:t>
            </a:r>
            <a:r>
              <a:rPr sz="1400" dirty="0">
                <a:solidFill>
                  <a:srgbClr val="64748B"/>
                </a:solidFill>
              </a:rPr>
              <a:t> Fulfillment times exceed 15-20 days in northern regions, causing severe review score drops.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200" b="1">
                <a:solidFill>
                  <a:srgbClr val="6B1724"/>
                </a:solidFill>
              </a:defRPr>
            </a:pPr>
            <a:r>
              <a:rPr lang="en-IN" sz="2000" dirty="0"/>
              <a:t>T</a:t>
            </a:r>
            <a:r>
              <a:rPr sz="2000" dirty="0"/>
              <a:t>HREE STRATEGIC PILLARS</a:t>
            </a:r>
          </a:p>
          <a:p>
            <a:pPr>
              <a:spcBef>
                <a:spcPts val="1400"/>
              </a:spcBef>
            </a:pPr>
            <a:r>
              <a:rPr sz="1400" b="1" dirty="0">
                <a:solidFill>
                  <a:srgbClr val="1E293B"/>
                </a:solidFill>
              </a:rPr>
              <a:t>1. Shift to Lifetime Value (LTV):</a:t>
            </a:r>
            <a:r>
              <a:rPr sz="1400" dirty="0">
                <a:solidFill>
                  <a:srgbClr val="64748B"/>
                </a:solidFill>
              </a:rPr>
              <a:t> Re-engage single-purchase customers using automated 30/60-day post-purchase flows.</a:t>
            </a:r>
          </a:p>
          <a:p>
            <a:pPr>
              <a:spcBef>
                <a:spcPts val="1400"/>
              </a:spcBef>
            </a:pPr>
            <a:r>
              <a:rPr sz="1400" b="1" dirty="0">
                <a:solidFill>
                  <a:srgbClr val="1E293B"/>
                </a:solidFill>
              </a:rPr>
              <a:t>2. Regional Fulfillment Micro-Hubs:</a:t>
            </a:r>
            <a:r>
              <a:rPr sz="1400" dirty="0">
                <a:solidFill>
                  <a:srgbClr val="64748B"/>
                </a:solidFill>
              </a:rPr>
              <a:t> Partner with </a:t>
            </a:r>
            <a:r>
              <a:rPr lang="en-IN" sz="1400" dirty="0">
                <a:solidFill>
                  <a:srgbClr val="64748B"/>
                </a:solidFill>
              </a:rPr>
              <a:t>a third party logistics</a:t>
            </a:r>
            <a:r>
              <a:rPr sz="1400" dirty="0">
                <a:solidFill>
                  <a:srgbClr val="64748B"/>
                </a:solidFill>
              </a:rPr>
              <a:t> networks in North/Northeast states to cut lead times under 10 days.</a:t>
            </a:r>
          </a:p>
          <a:p>
            <a:pPr>
              <a:spcBef>
                <a:spcPts val="1400"/>
              </a:spcBef>
            </a:pPr>
            <a:r>
              <a:rPr sz="1400" b="1" dirty="0">
                <a:solidFill>
                  <a:srgbClr val="1E293B"/>
                </a:solidFill>
              </a:rPr>
              <a:t>3. Enforce Merchant SLAs:</a:t>
            </a:r>
            <a:r>
              <a:rPr sz="1400" dirty="0">
                <a:solidFill>
                  <a:srgbClr val="64748B"/>
                </a:solidFill>
              </a:rPr>
              <a:t> Set strict 3.8-star review thresholds for high-volume sellers to protect platform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Revenue Trends: Peak Seasonality &amp; Category Drivers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rPr dirty="0"/>
              <a:t>PEAK SALES SURGE</a:t>
            </a:r>
          </a:p>
          <a:p>
            <a:pPr>
              <a:defRPr sz="2200" b="1">
                <a:solidFill>
                  <a:srgbClr val="6B1724"/>
                </a:solidFill>
              </a:defRPr>
            </a:pPr>
            <a:r>
              <a:rPr dirty="0"/>
              <a:t>Q4 / Nov</a:t>
            </a:r>
            <a:r>
              <a:rPr lang="en-IN" dirty="0"/>
              <a:t> - 2017</a:t>
            </a:r>
            <a:endParaRPr dirty="0"/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dirty="0"/>
              <a:t>Driven by Black Friday promos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BASELINE ORDER VALUE</a:t>
            </a:r>
          </a:p>
          <a:p>
            <a:pPr>
              <a:defRPr sz="2200" b="1">
                <a:solidFill>
                  <a:srgbClr val="6B1724"/>
                </a:solidFill>
              </a:defRPr>
            </a:pPr>
            <a:r>
              <a:t>$120 - $160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Flat during non-promo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TOP VOLUME CATEGORY</a:t>
            </a:r>
          </a:p>
          <a:p>
            <a:pPr>
              <a:defRPr sz="2200" b="1">
                <a:solidFill>
                  <a:srgbClr val="6B1724"/>
                </a:solidFill>
              </a:defRPr>
            </a:pPr>
            <a:r>
              <a:t>Bed, Bath &amp; Table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30%+ total GMV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698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>
              <a:lnSpc>
                <a:spcPct val="150000"/>
              </a:lnSpc>
              <a:spcBef>
                <a:spcPts val="800"/>
              </a:spcBef>
            </a:pPr>
            <a:endParaRPr lang="en-IN" sz="600" b="1" dirty="0">
              <a:solidFill>
                <a:srgbClr val="1E293B"/>
              </a:solidFill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 b="1" dirty="0">
                <a:solidFill>
                  <a:srgbClr val="1E293B"/>
                </a:solidFill>
              </a:rPr>
              <a:t>Observation: </a:t>
            </a:r>
            <a:r>
              <a:rPr sz="1500" dirty="0">
                <a:solidFill>
                  <a:srgbClr val="64748B"/>
                </a:solidFill>
              </a:rPr>
              <a:t>Sales spike sharply in Q4 during Black Friday, but baseline revenue remains static across off-peak months.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 b="1" dirty="0">
                <a:solidFill>
                  <a:srgbClr val="1E293B"/>
                </a:solidFill>
              </a:rPr>
              <a:t>Interpretation: </a:t>
            </a:r>
            <a:r>
              <a:rPr sz="1500" dirty="0">
                <a:solidFill>
                  <a:srgbClr val="64748B"/>
                </a:solidFill>
              </a:rPr>
              <a:t>Purchasing behavior is heavily discount-driven rather than sustained by habitual repeat engagement.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 b="1" dirty="0">
                <a:solidFill>
                  <a:srgbClr val="1E293B"/>
                </a:solidFill>
              </a:rPr>
              <a:t>Business Impact: </a:t>
            </a:r>
            <a:r>
              <a:rPr sz="1500" dirty="0">
                <a:solidFill>
                  <a:srgbClr val="64748B"/>
                </a:solidFill>
              </a:rPr>
              <a:t>High promotional reliance creates cash flow volatility and compresses operating profit margins.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500" b="1" dirty="0">
                <a:solidFill>
                  <a:srgbClr val="1E293B"/>
                </a:solidFill>
              </a:rPr>
              <a:t>Actionable Strategy: </a:t>
            </a:r>
            <a:r>
              <a:rPr sz="1500" dirty="0">
                <a:solidFill>
                  <a:srgbClr val="64748B"/>
                </a:solidFill>
              </a:rPr>
              <a:t>Implement quarterly cross-selling bundles and category loyalty incentives to elevate off-peak baseline AOV.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BE5D9-6870-8168-0197-38CD7FB46E8D}"/>
              </a:ext>
            </a:extLst>
          </p:cNvPr>
          <p:cNvSpPr txBox="1"/>
          <p:nvPr/>
        </p:nvSpPr>
        <p:spPr>
          <a:xfrm>
            <a:off x="3939540" y="3429000"/>
            <a:ext cx="40995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6B1724"/>
                </a:solidFill>
              </a:rPr>
              <a:t>STRATEGIC</a:t>
            </a:r>
            <a:r>
              <a:rPr lang="en-IN" sz="2000" dirty="0"/>
              <a:t> </a:t>
            </a:r>
            <a:r>
              <a:rPr lang="en-IN" sz="2000" b="1" dirty="0">
                <a:solidFill>
                  <a:srgbClr val="6B1724"/>
                </a:solidFill>
              </a:rPr>
              <a:t>FINDINGS</a:t>
            </a:r>
            <a:r>
              <a:rPr lang="en-IN" sz="2000" dirty="0"/>
              <a:t> </a:t>
            </a:r>
            <a:r>
              <a:rPr lang="en-IN" sz="2000" b="1" dirty="0">
                <a:solidFill>
                  <a:srgbClr val="6B1724"/>
                </a:solidFill>
              </a:rPr>
              <a:t>&amp; IMPACT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Customer Retention: Fixing the 'Leaky Bucket'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4572000"/>
          </a:xfrm>
          <a:prstGeom prst="roundRect">
            <a:avLst/>
          </a:prstGeom>
          <a:solidFill>
            <a:srgbClr val="6B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tlCol="0" anchor="ctr"/>
          <a:lstStyle/>
          <a:p>
            <a:pPr algn="ctr">
              <a:defRPr sz="1100" b="1">
                <a:solidFill>
                  <a:srgbClr val="DCB4B9"/>
                </a:solidFill>
              </a:defRPr>
            </a:pPr>
            <a:r>
              <a:rPr sz="1400" dirty="0"/>
              <a:t>RETENTION RATE</a:t>
            </a:r>
          </a:p>
          <a:p>
            <a:pPr>
              <a:spcBef>
                <a:spcPts val="1000"/>
              </a:spcBef>
              <a:defRPr sz="4800" b="1">
                <a:solidFill>
                  <a:srgbClr val="FFFFFF"/>
                </a:solidFill>
              </a:defRPr>
            </a:pPr>
            <a:r>
              <a:rPr dirty="0"/>
              <a:t>&lt; 10%</a:t>
            </a:r>
          </a:p>
          <a:p>
            <a:pPr>
              <a:spcBef>
                <a:spcPts val="1500"/>
              </a:spcBef>
              <a:defRPr sz="1400">
                <a:solidFill>
                  <a:srgbClr val="F0E6E8"/>
                </a:solidFill>
              </a:defRPr>
            </a:pPr>
            <a:r>
              <a:rPr dirty="0"/>
              <a:t>Over 90% of buyers purchase only once on </a:t>
            </a:r>
            <a:r>
              <a:rPr dirty="0" err="1"/>
              <a:t>Olist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463040"/>
            <a:ext cx="7223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>
              <a:spcBef>
                <a:spcPts val="1200"/>
              </a:spcBef>
            </a:pPr>
            <a:r>
              <a:rPr sz="1400" b="1" dirty="0">
                <a:solidFill>
                  <a:srgbClr val="1E293B"/>
                </a:solidFill>
              </a:rPr>
              <a:t>1. Automated Replenishment Flows: </a:t>
            </a:r>
            <a:r>
              <a:rPr sz="1400" dirty="0">
                <a:solidFill>
                  <a:srgbClr val="64748B"/>
                </a:solidFill>
              </a:rPr>
              <a:t>Trigger targeted email/SMS offers 30 and 60 days post-delivery for consumable categories.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1E293B"/>
                </a:solidFill>
              </a:rPr>
              <a:t>2. Post-Purchase Discount Incentives: </a:t>
            </a:r>
            <a:r>
              <a:rPr sz="1400" dirty="0">
                <a:solidFill>
                  <a:srgbClr val="64748B"/>
                </a:solidFill>
              </a:rPr>
              <a:t>Provide bounce-back coupon codes valid for 30 days following an order's delivery confirmation.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1E293B"/>
                </a:solidFill>
              </a:rPr>
              <a:t>3. Category-Specific Cross-Selling: </a:t>
            </a:r>
            <a:r>
              <a:rPr sz="1400" dirty="0">
                <a:solidFill>
                  <a:srgbClr val="64748B"/>
                </a:solidFill>
              </a:rPr>
              <a:t>Recommend complementary items (e.g., pillowcases post bed-sheet purchases) on checkout screens.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1E293B"/>
                </a:solidFill>
              </a:rPr>
              <a:t>4. Loyalty Tier Introduction: </a:t>
            </a:r>
            <a:r>
              <a:rPr sz="1400" dirty="0">
                <a:solidFill>
                  <a:srgbClr val="64748B"/>
                </a:solidFill>
              </a:rPr>
              <a:t>Reward customer spend milestones to make returning to </a:t>
            </a:r>
            <a:r>
              <a:rPr sz="1400" dirty="0" err="1">
                <a:solidFill>
                  <a:srgbClr val="64748B"/>
                </a:solidFill>
              </a:rPr>
              <a:t>Olist</a:t>
            </a:r>
            <a:r>
              <a:rPr sz="1400" dirty="0">
                <a:solidFill>
                  <a:srgbClr val="64748B"/>
                </a:solidFill>
              </a:rPr>
              <a:t> more attractive than switching.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91240-41BB-F5B6-855A-0E3F84E6E6D9}"/>
              </a:ext>
            </a:extLst>
          </p:cNvPr>
          <p:cNvSpPr txBox="1"/>
          <p:nvPr/>
        </p:nvSpPr>
        <p:spPr>
          <a:xfrm>
            <a:off x="5667587" y="2085776"/>
            <a:ext cx="43010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6B1724"/>
                </a:solidFill>
              </a:rPr>
              <a:t>ACTION PLAN TO ELEVATE REPEAT PURCHASES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Logistics Analysis: Delivery Delays vs. Customer Ratings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138063"/>
              </p:ext>
            </p:extLst>
          </p:nvPr>
        </p:nvGraphicFramePr>
        <p:xfrm>
          <a:off x="731520" y="14630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Delivery Status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Average Rating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 Impact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 Required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On-Time / Early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4.3 Stars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 </a:t>
                      </a:r>
                      <a:r>
                        <a:rPr dirty="0"/>
                        <a:t>High satisfaction, positive reviews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 </a:t>
                      </a:r>
                      <a:r>
                        <a:rPr dirty="0"/>
                        <a:t>Maintain current carrier SLAs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1 - 3 Days Late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3.1 Stars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 </a:t>
                      </a:r>
                      <a:r>
                        <a:rPr dirty="0"/>
                        <a:t>Moderate friction, lower repeat rate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 </a:t>
                      </a:r>
                      <a:r>
                        <a:rPr dirty="0"/>
                        <a:t>Automated status notifications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4 - 7 Days Late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2.4 Stars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 </a:t>
                      </a:r>
                      <a:r>
                        <a:rPr dirty="0"/>
                        <a:t>High churn, support tickets spike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 </a:t>
                      </a:r>
                      <a:r>
                        <a:rPr dirty="0"/>
                        <a:t>Issue proactive shipping credits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8+ Days Late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1.8 Stars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</a:t>
                      </a:r>
                      <a:r>
                        <a:rPr dirty="0"/>
                        <a:t>Severe brand damage, refund claims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lang="en-IN" dirty="0"/>
                        <a:t>      </a:t>
                      </a:r>
                      <a:r>
                        <a:rPr dirty="0"/>
                        <a:t>Carrier penalty / route re-assignment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023360"/>
            <a:ext cx="106984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>
              <a:spcBef>
                <a:spcPts val="800"/>
              </a:spcBef>
            </a:pPr>
            <a:endParaRPr lang="en-IN" sz="800" b="1" dirty="0">
              <a:solidFill>
                <a:srgbClr val="1E293B"/>
              </a:solidFill>
            </a:endParaRP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E293B"/>
                </a:solidFill>
              </a:rPr>
              <a:t>Fulfilment is the #1 Satisfaction Driver: </a:t>
            </a:r>
            <a:r>
              <a:rPr sz="1400" dirty="0">
                <a:solidFill>
                  <a:srgbClr val="64748B"/>
                </a:solidFill>
              </a:rPr>
              <a:t>Delivery tardiness penalizes ratings far more severely than product defect rates.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E293B"/>
                </a:solidFill>
              </a:rPr>
              <a:t>Dynamic Estimated Dates (EDD): </a:t>
            </a:r>
            <a:r>
              <a:rPr sz="1400" dirty="0">
                <a:solidFill>
                  <a:srgbClr val="64748B"/>
                </a:solidFill>
              </a:rPr>
              <a:t>Implement realistic buffer algorithms at checkout for remote states to align customer expectations and prevent perceived delay.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74CB2-25DF-ED6F-9453-87EC8A66E768}"/>
              </a:ext>
            </a:extLst>
          </p:cNvPr>
          <p:cNvSpPr txBox="1"/>
          <p:nvPr/>
        </p:nvSpPr>
        <p:spPr>
          <a:xfrm>
            <a:off x="4177377" y="4332114"/>
            <a:ext cx="3623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6B1724"/>
                </a:solidFill>
              </a:rPr>
              <a:t>KEY TAKEAWAY &amp; OPERATIONAL FIX</a:t>
            </a:r>
          </a:p>
          <a:p>
            <a:pPr algn="ctr"/>
            <a:endParaRPr lang="en-IN" sz="1200" b="1" dirty="0">
              <a:solidFill>
                <a:srgbClr val="6B172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Execution Roadmap &amp; 12-Month Target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</a:defRPr>
            </a:pPr>
            <a:r>
              <a:rPr dirty="0"/>
              <a:t>0 - 30 Days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rPr sz="1200" dirty="0"/>
              <a:t>• Apply dynamic EDD buffering</a:t>
            </a:r>
            <a:br>
              <a:rPr sz="1200" dirty="0"/>
            </a:br>
            <a:r>
              <a:rPr sz="1200" dirty="0"/>
              <a:t>• Enforce 3.8-star seller SLAs</a:t>
            </a:r>
            <a:br>
              <a:rPr sz="1200" dirty="0"/>
            </a:br>
            <a:r>
              <a:rPr sz="1200" dirty="0"/>
              <a:t>• Resolve high-frequency support tickets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</a:defRPr>
            </a:pPr>
            <a:r>
              <a:rPr dirty="0"/>
              <a:t>30 - 90 Days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rPr sz="1200" dirty="0"/>
              <a:t>• Deploy automated email flows</a:t>
            </a:r>
            <a:br>
              <a:rPr sz="1200" dirty="0"/>
            </a:br>
            <a:r>
              <a:rPr sz="1200" dirty="0"/>
              <a:t>• Launch cross-category bundles</a:t>
            </a:r>
            <a:br>
              <a:rPr sz="1200" dirty="0"/>
            </a:br>
            <a:r>
              <a:rPr sz="1200" dirty="0"/>
              <a:t>• Roll out post-purchase coupons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>
              <a:spcBef>
                <a:spcPts val="400"/>
              </a:spcBef>
              <a:defRPr sz="1300" b="1">
                <a:solidFill>
                  <a:srgbClr val="64748B"/>
                </a:solidFill>
              </a:defRPr>
            </a:pPr>
            <a:r>
              <a:rPr dirty="0"/>
              <a:t>90 - 180 Days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rPr sz="1200" dirty="0"/>
              <a:t>• Establish Northern 3PL hubs</a:t>
            </a:r>
            <a:br>
              <a:rPr sz="1200" dirty="0"/>
            </a:br>
            <a:r>
              <a:rPr sz="1200" dirty="0"/>
              <a:t>• Formalize loyalty rewards tier</a:t>
            </a:r>
            <a:br>
              <a:rPr sz="1200" dirty="0"/>
            </a:br>
            <a:r>
              <a:rPr sz="1200" dirty="0"/>
              <a:t>• Expand seller onboarding in 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1920240"/>
          </a:xfrm>
          <a:prstGeom prst="roundRect">
            <a:avLst/>
          </a:prstGeom>
          <a:solidFill>
            <a:srgbClr val="6B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>
              <a:spcBef>
                <a:spcPts val="600"/>
              </a:spcBef>
            </a:pPr>
            <a:endParaRPr lang="en-IN" sz="400" b="1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300" b="1" dirty="0">
                <a:solidFill>
                  <a:srgbClr val="FFFFFF"/>
                </a:solidFill>
              </a:rPr>
              <a:t>Repeat Customer Rate: </a:t>
            </a:r>
            <a:r>
              <a:rPr sz="1300" dirty="0">
                <a:solidFill>
                  <a:srgbClr val="F0E6E8"/>
                </a:solidFill>
              </a:rPr>
              <a:t>Increase from &lt;10% to 18% - 22%</a:t>
            </a:r>
          </a:p>
          <a:p>
            <a:pPr>
              <a:spcBef>
                <a:spcPts val="600"/>
              </a:spcBef>
            </a:pPr>
            <a:r>
              <a:rPr sz="1300" b="1" dirty="0">
                <a:solidFill>
                  <a:srgbClr val="FFFFFF"/>
                </a:solidFill>
              </a:rPr>
              <a:t>Northern Delivery Speeds: </a:t>
            </a:r>
            <a:r>
              <a:rPr sz="1300" dirty="0">
                <a:solidFill>
                  <a:srgbClr val="F0E6E8"/>
                </a:solidFill>
              </a:rPr>
              <a:t>Reduce average transit time from 18 to &lt;10 days</a:t>
            </a:r>
          </a:p>
          <a:p>
            <a:pPr>
              <a:spcBef>
                <a:spcPts val="600"/>
              </a:spcBef>
            </a:pPr>
            <a:r>
              <a:rPr sz="1300" b="1" dirty="0">
                <a:solidFill>
                  <a:srgbClr val="FFFFFF"/>
                </a:solidFill>
              </a:rPr>
              <a:t>Low-Rating Orders (&lt;3 Stars): </a:t>
            </a:r>
            <a:r>
              <a:rPr sz="1300" dirty="0">
                <a:solidFill>
                  <a:srgbClr val="F0E6E8"/>
                </a:solidFill>
              </a:rPr>
              <a:t>Compress total share from ~15% down to &lt;7%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C0E70-D94A-26B6-3DAC-F16E8775D8A7}"/>
              </a:ext>
            </a:extLst>
          </p:cNvPr>
          <p:cNvSpPr txBox="1"/>
          <p:nvPr/>
        </p:nvSpPr>
        <p:spPr>
          <a:xfrm>
            <a:off x="3183467" y="2045546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13829-7209-1A87-BA80-407905157ED0}"/>
              </a:ext>
            </a:extLst>
          </p:cNvPr>
          <p:cNvSpPr txBox="1"/>
          <p:nvPr/>
        </p:nvSpPr>
        <p:spPr>
          <a:xfrm>
            <a:off x="1258147" y="1769440"/>
            <a:ext cx="2352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6B1724"/>
                </a:solidFill>
              </a:rPr>
              <a:t>PHASE 1: QUICK WINS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DA74DE-7B86-C0B4-CF24-16079EF7EECA}"/>
              </a:ext>
            </a:extLst>
          </p:cNvPr>
          <p:cNvSpPr txBox="1"/>
          <p:nvPr/>
        </p:nvSpPr>
        <p:spPr>
          <a:xfrm>
            <a:off x="4575386" y="1774818"/>
            <a:ext cx="2827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6B1724"/>
                </a:solidFill>
              </a:rPr>
              <a:t>PHASE 2: RETENTION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23F41-714E-9EBA-F62D-6D3ECE0E5EF9}"/>
              </a:ext>
            </a:extLst>
          </p:cNvPr>
          <p:cNvSpPr txBox="1"/>
          <p:nvPr/>
        </p:nvSpPr>
        <p:spPr>
          <a:xfrm>
            <a:off x="8754534" y="1774818"/>
            <a:ext cx="1820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100" b="1">
                <a:solidFill>
                  <a:srgbClr val="6B1724"/>
                </a:solidFill>
              </a:defRPr>
            </a:pPr>
            <a:r>
              <a:rPr lang="en-IN" sz="1400" dirty="0"/>
              <a:t>PHASE 3: SCALE &amp; 3PL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03001D-4220-1799-11EB-AFD32720EABF}"/>
              </a:ext>
            </a:extLst>
          </p:cNvPr>
          <p:cNvSpPr txBox="1"/>
          <p:nvPr/>
        </p:nvSpPr>
        <p:spPr>
          <a:xfrm>
            <a:off x="4317847" y="4323351"/>
            <a:ext cx="3555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00" b="1">
                <a:solidFill>
                  <a:srgbClr val="DCB4B9"/>
                </a:solidFill>
              </a:defRPr>
            </a:pPr>
            <a:r>
              <a:rPr lang="en-IN" sz="1600" dirty="0"/>
              <a:t>12-MONTH TARGET KPI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657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Sasi Kumaar</cp:lastModifiedBy>
  <cp:revision>15</cp:revision>
  <dcterms:created xsi:type="dcterms:W3CDTF">2013-01-27T09:14:16Z</dcterms:created>
  <dcterms:modified xsi:type="dcterms:W3CDTF">2026-09-04T08:03:52Z</dcterms:modified>
  <cp:category/>
</cp:coreProperties>
</file>